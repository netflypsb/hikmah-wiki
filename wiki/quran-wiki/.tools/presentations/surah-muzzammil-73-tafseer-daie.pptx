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D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Georgia"/>
              </a:defRPr>
            </a:pPr>
            <a:r>
              <a:t>Surah Al-Muzzammil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9A857"/>
                </a:solidFill>
              </a:defRPr>
            </a:pPr>
            <a:r>
              <a:t>المزمل — The Enwrapped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FAF6F0"/>
                </a:solidFill>
              </a:defRPr>
            </a:pPr>
            <a:r>
              <a:t>Tafseer from the Perspective of a Da'ie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B9080"/>
                </a:solidFill>
              </a:defRPr>
            </a:pPr>
            <a:r>
              <a:t>Meccan Surah | 20 Verses | Juz 29 | Tafsir: Ibn Kathir &amp; Muyassar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4D3E"/>
                </a:solidFill>
                <a:latin typeface="Georgia"/>
              </a:defRPr>
            </a:pPr>
            <a:r>
              <a:t>Why This Surah Matters to a Da'ie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85800"/>
            <a:ext cx="1280160" cy="36576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7534E"/>
                </a:solidFill>
              </a:defRPr>
            </a:pPr>
            <a:r>
              <a:t>Spiritual foundation for the caller to Islam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1917"/>
                </a:solidFill>
              </a:defRPr>
            </a:pPr>
            <a:r>
              <a:t>• It was revealed in the early Makkan period — the era of da'wah under persecution, exactly the context many da'ies face today.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1917"/>
                </a:solidFill>
              </a:defRPr>
            </a:pPr>
            <a:r>
              <a:t>• It contains the divine command for night prayer (Tahajjud) — the spiritual engine that sustains prophetic stamina.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6537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1917"/>
                </a:solidFill>
              </a:defRPr>
            </a:pPr>
            <a:r>
              <a:t>• It teaches how to handle rejection with patience (Sabr) and gracious avoidance (Hijr Jamil) — essential skills for every caller.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40864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1917"/>
                </a:solidFill>
              </a:defRPr>
            </a:pPr>
            <a:r>
              <a:t>• It warns with the parable of Pharaoh — a universal case study in what happens when a society rejects its messenger.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1635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1917"/>
                </a:solidFill>
              </a:defRPr>
            </a:pPr>
            <a:r>
              <a:t>• It ends with human free will: 'Whoever wills may take a path to his Lord' — the very invitation every da'ie extends.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77774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7534E"/>
                </a:solidFill>
              </a:defRPr>
            </a:pPr>
            <a:r>
              <a:t>Quran Wiki — Surah Al-Muzzammil (73) | Tarbiyyah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4D3E"/>
                </a:solidFill>
                <a:latin typeface="Georgia"/>
              </a:defRPr>
            </a:pPr>
            <a:r>
              <a:t>Introduction to Surah Al-Muzzammil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85800"/>
            <a:ext cx="1280160" cy="36576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7534E"/>
                </a:solidFill>
              </a:defRPr>
            </a:pPr>
            <a:r>
              <a:t>Structure, context, and themes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1917"/>
                </a:solidFill>
              </a:defRPr>
            </a:pPr>
            <a:r>
              <a:t>• Revealed in Makkah during the first phase of Prophethood — before the Hijrah, when opposition was intensifying.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1917"/>
                </a:solidFill>
              </a:defRPr>
            </a:pPr>
            <a:r>
              <a:t>• The first 19 verses contain two major sections: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6537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57534E"/>
                </a:solidFill>
              </a:defRPr>
            </a:pPr>
            <a:r>
              <a:t>•     (1) Spiritual Preparation (verses 1-9): Night prayer, Quranic recitation, and exclusive devotion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40864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57534E"/>
                </a:solidFill>
              </a:defRPr>
            </a:pPr>
            <a:r>
              <a:t>•     (2) Prophetic Conduct &amp; Warning (verses 10-19): Patience, divine justice, and the Day of Judgment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1635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1917"/>
                </a:solidFill>
              </a:defRPr>
            </a:pPr>
            <a:r>
              <a:t>• Verse 20 (not covered here) abrogates the obligation of half-night prayer and mentions charity — a transition to Madinan legislation.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57534E"/>
                </a:solidFill>
              </a:defRPr>
            </a:pPr>
            <a:r>
              <a:t>• Sources: Tafsir Ibn Kathir (Abridged) &amp; Tafsir Muyassar — Quran Wiki verified corpus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77774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7534E"/>
                </a:solidFill>
              </a:defRPr>
            </a:pPr>
            <a:r>
              <a:t>Quran Wiki — Surah Al-Muzzammil (73) | Tarbiyyah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9A857"/>
                </a:solidFill>
                <a:latin typeface="Georgia"/>
              </a:defRPr>
            </a:pPr>
            <a:r>
              <a:t>73:1-2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457200"/>
            <a:ext cx="1097280" cy="27432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solidFill>
            <a:srgbClr val="ED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502920"/>
            <a:ext cx="36576" cy="685800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41664" y="502920"/>
            <a:ext cx="36576" cy="685800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1B4D3E"/>
                </a:solidFill>
                <a:latin typeface="Times New Roman"/>
              </a:defRPr>
            </a:pPr>
            <a:r>
              <a:t>يَـٰٓأَيُّهَا ٱلْمُزَّمِّلُ ۝ قُمِ ٱلَّيْلَ إِلَّا قَلِيلًا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i="1">
                <a:solidFill>
                  <a:srgbClr val="57534E"/>
                </a:solidFill>
              </a:defRPr>
            </a:pPr>
            <a:r>
              <a:t>O thou wrapped up in thy raiment! Keep vigil the night long, save a little 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618488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4D3E"/>
                </a:solidFill>
                <a:latin typeface="Georgia"/>
              </a:defRPr>
            </a:pPr>
            <a:r>
              <a:t>Tafsir Ibn Kathir — The Command to Stand at Night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92807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1917"/>
                </a:solidFill>
              </a:defRPr>
            </a:pPr>
            <a:r>
              <a:t>• "Al-Muzzammil" — one wrapped in garments, asleep. Allah commands the Prophet to cease rest and stand in prayer.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6829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1917"/>
                </a:solidFill>
              </a:defRPr>
            </a:pPr>
            <a:r>
              <a:t>• This command was initially obligatory for the Prophet alone (17:79), establishing Tahajjud as a foundational spiritual practice.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43784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1917"/>
                </a:solidFill>
              </a:defRPr>
            </a:pPr>
            <a:r>
              <a:t>• The command extends to believers: "Their sides forsake their beds, to invoke their Lord in fear and hope" (32:16).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77774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7534E"/>
                </a:solidFill>
              </a:defRPr>
            </a:pPr>
            <a:r>
              <a:t>Quran Wiki — Surah Al-Muzzammil (73) | Tarbiyyah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9A857"/>
                </a:solidFill>
                <a:latin typeface="Georgia"/>
              </a:defRPr>
            </a:pPr>
            <a:r>
              <a:t>73:3-4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457200"/>
            <a:ext cx="1097280" cy="27432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solidFill>
            <a:srgbClr val="ED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502920"/>
            <a:ext cx="36576" cy="685800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41664" y="502920"/>
            <a:ext cx="36576" cy="685800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1B4D3E"/>
                </a:solidFill>
                <a:latin typeface="Times New Roman"/>
              </a:defRPr>
            </a:pPr>
            <a:r>
              <a:t>نِّصْفَهُۥٓ أَوِ ٱنقُصْ مِنْهُ قَلِيلًا ۝ أَوْ زِدْ عَلَيْهِ وَرَتِّلِ ٱلْقُرْءَانَ تَرْتِيلًا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i="1">
                <a:solidFill>
                  <a:srgbClr val="57534E"/>
                </a:solidFill>
              </a:defRPr>
            </a:pPr>
            <a:r>
              <a:t>A half thereof, or abate a little thereof — Or add (a little) thereto - and chant the Qur'an in measure,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618488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4D3E"/>
                </a:solidFill>
                <a:latin typeface="Georgia"/>
              </a:defRPr>
            </a:pPr>
            <a:r>
              <a:t>Divine Flexibility &amp; The Art of Tartil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92807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1917"/>
                </a:solidFill>
              </a:defRPr>
            </a:pPr>
            <a:r>
              <a:t>• The prescribed duration: half the night, or slightly less (reaching one-third), or slightly more (reaching two-thirds).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6829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1917"/>
                </a:solidFill>
              </a:defRPr>
            </a:pPr>
            <a:r>
              <a:t>• "No hardship on you concerning that slight increase or decrease" — ease within the command.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43784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1917"/>
                </a:solidFill>
              </a:defRPr>
            </a:pPr>
            <a:r>
              <a:t>• Tartil (ترتيل): reciting slowly, clearly, and with contemplation. A'ishah reported the Prophet recited with measured, distinct pronunciation.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1927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1917"/>
                </a:solidFill>
              </a:defRPr>
            </a:pPr>
            <a:r>
              <a:t>• The purpose: understanding, reflection, and heartfelt connection — not mere mechanical reading.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77774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7534E"/>
                </a:solidFill>
              </a:defRPr>
            </a:pPr>
            <a:r>
              <a:t>Quran Wiki — Surah Al-Muzzammil (73) | Tarbiyyah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9A857"/>
                </a:solidFill>
                <a:latin typeface="Georgia"/>
              </a:defRPr>
            </a:pPr>
            <a:r>
              <a:t>73:5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457200"/>
            <a:ext cx="1097280" cy="27432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solidFill>
            <a:srgbClr val="ED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502920"/>
            <a:ext cx="36576" cy="685800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41664" y="502920"/>
            <a:ext cx="36576" cy="685800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1B4D3E"/>
                </a:solidFill>
                <a:latin typeface="Times New Roman"/>
              </a:defRPr>
            </a:pPr>
            <a:r>
              <a:t>إِنَّا سَنُلْقِى عَلَيْكَ قَوْلًا ثَقِيلًا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i="1">
                <a:solidFill>
                  <a:srgbClr val="57534E"/>
                </a:solidFill>
              </a:defRPr>
            </a:pPr>
            <a:r>
              <a:t>For we shall charge thee with a word of weight.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618488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4D3E"/>
                </a:solidFill>
                <a:latin typeface="Georgia"/>
              </a:defRPr>
            </a:pPr>
            <a:r>
              <a:t>Tafsir Muyassar — The Weight of Revelation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92807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1917"/>
                </a:solidFill>
              </a:defRPr>
            </a:pPr>
            <a:r>
              <a:t>• "Qawlan thaqilan" — a heavy, weighty word: the Quran containing commands, prohibitions, and divine legislation.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6829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1917"/>
                </a:solidFill>
              </a:defRPr>
            </a:pPr>
            <a:r>
              <a:t>• The revelation is 'heavy' because it demands commitment, transforms character, and confronts falsehood.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43784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1917"/>
                </a:solidFill>
              </a:defRPr>
            </a:pPr>
            <a:r>
              <a:t>• This weightiness requires spiritual preparation — hence the preceding command to stand at night in prayer.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1927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1917"/>
                </a:solidFill>
              </a:defRPr>
            </a:pPr>
            <a:r>
              <a:t>• For the da'ie: the message you carry is not light. It requires your own soul to be prepared before you can prepare others.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77774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7534E"/>
                </a:solidFill>
              </a:defRPr>
            </a:pPr>
            <a:r>
              <a:t>Quran Wiki — Surah Al-Muzzammil (73) | Tarbiyyah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9A857"/>
                </a:solidFill>
                <a:latin typeface="Georgia"/>
              </a:defRPr>
            </a:pPr>
            <a:r>
              <a:t>73:6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457200"/>
            <a:ext cx="1097280" cy="27432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solidFill>
            <a:srgbClr val="ED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502920"/>
            <a:ext cx="36576" cy="685800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41664" y="502920"/>
            <a:ext cx="36576" cy="685800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1B4D3E"/>
                </a:solidFill>
                <a:latin typeface="Times New Roman"/>
              </a:defRPr>
            </a:pPr>
            <a:r>
              <a:t>إِنَّ نَاشِئَةَ ٱلَّيْلِ هِىَ أَشَدُّ وَطْـًٔا وَأَقْوَمُ قِيلًا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i="1">
                <a:solidFill>
                  <a:srgbClr val="57534E"/>
                </a:solidFill>
              </a:defRPr>
            </a:pPr>
            <a:r>
              <a:t>Lo! the vigil of the night is (a time) when impression is more keen and speech more certain.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618488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4D3E"/>
                </a:solidFill>
                <a:latin typeface="Georgia"/>
              </a:defRPr>
            </a:pPr>
            <a:r>
              <a:t>Tafsir Muyassar — Why the Night is Superior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92807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1917"/>
                </a:solidFill>
              </a:defRPr>
            </a:pPr>
            <a:r>
              <a:t>• Night worship has stronger impact on the heart because worldly distractions are absent.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6829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1917"/>
                </a:solidFill>
              </a:defRPr>
            </a:pPr>
            <a:r>
              <a:t>• "Aqwamu qilan" — speech is more upright and accurate because the heart is free from daytime preoccupations.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43784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1917"/>
                </a:solidFill>
              </a:defRPr>
            </a:pPr>
            <a:r>
              <a:t>• The stillness of night creates the optimal psychological and spiritual conditions for deep connection with Allah.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1927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1917"/>
                </a:solidFill>
              </a:defRPr>
            </a:pPr>
            <a:r>
              <a:t>• For the da'ie: your night prayer is your secret weapon. It is where you recharge, gain clarity, and receive fortitude for the day's challenges.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77774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7534E"/>
                </a:solidFill>
              </a:defRPr>
            </a:pPr>
            <a:r>
              <a:t>Quran Wiki — Surah Al-Muzzammil (73) | Tarbiyyah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9A857"/>
                </a:solidFill>
                <a:latin typeface="Georgia"/>
              </a:defRPr>
            </a:pPr>
            <a:r>
              <a:t>73:7-9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457200"/>
            <a:ext cx="1097280" cy="27432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502920"/>
            <a:ext cx="8412480" cy="822960"/>
          </a:xfrm>
          <a:prstGeom prst="rect">
            <a:avLst/>
          </a:prstGeom>
          <a:solidFill>
            <a:srgbClr val="ED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502920"/>
            <a:ext cx="36576" cy="822960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41664" y="502920"/>
            <a:ext cx="36576" cy="822960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1B4D3E"/>
                </a:solidFill>
                <a:latin typeface="Times New Roman"/>
              </a:defRPr>
            </a:pPr>
            <a:r>
              <a:t>إِنَّ لَكَ فِى ٱلنَّهَارِ سَبْحًا طَوِيلًا ۝ وَٱذْكُرِ ٱسْمَ رَبِّكَ وَتَبَتَّلْ إِلَيْهِ تَبْتِيلًا ۝ رَّبُّ ٱلْمَشْرِقِ وَٱلْمَغْرِبِ لَآ إِلَـٰهَ إِلَّا هُوَ فَٱتَّخِذْهُ وَكِيلًا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i="1">
                <a:solidFill>
                  <a:srgbClr val="57534E"/>
                </a:solidFill>
              </a:defRPr>
            </a:pPr>
            <a:r>
              <a:t>Lo! thou hast by day a chain of business. So remember the name of thy Lord and devote thyself with a complete devotion - Lord of the East and the West; there is no Allah save Him; so choose thou Him alone for thy defender 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755648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4D3E"/>
                </a:solidFill>
                <a:latin typeface="Georgia"/>
              </a:defRPr>
            </a:pPr>
            <a:r>
              <a:t>Balance of Day &amp; Night | Total Devotion (Tabattul)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299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1917"/>
                </a:solidFill>
              </a:defRPr>
            </a:pPr>
            <a:r>
              <a:t>• Verse 7: Daytime is for worldly duties and propagation. Night is reserved for exclusive communion with Allah.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0545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1917"/>
                </a:solidFill>
              </a:defRPr>
            </a:pPr>
            <a:r>
              <a:t>• Verse 8: 'Tabattul' — total, exclusive devotion. Cut all attachments and dedicate worship solely to Allah.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80944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1917"/>
                </a:solidFill>
              </a:defRPr>
            </a:pPr>
            <a:r>
              <a:t>• Verse 9: Tawhid declaration — Allah is Lord of East and West, the sole deity. Take Him as Wakil (Disposer of Affairs).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77774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7534E"/>
                </a:solidFill>
              </a:defRPr>
            </a:pPr>
            <a:r>
              <a:t>Quran Wiki — Surah Al-Muzzammil (73) | Tarbiyyah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9A857"/>
                </a:solidFill>
                <a:latin typeface="Georgia"/>
              </a:defRPr>
            </a:pPr>
            <a:r>
              <a:t>73:10-11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457200"/>
            <a:ext cx="1097280" cy="27432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solidFill>
            <a:srgbClr val="ED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502920"/>
            <a:ext cx="36576" cy="685800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41664" y="502920"/>
            <a:ext cx="36576" cy="685800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1B4D3E"/>
                </a:solidFill>
                <a:latin typeface="Times New Roman"/>
              </a:defRPr>
            </a:pPr>
            <a:r>
              <a:t>وَٱصْبِرْ عَلَىٰ مَا يَقُولُونَ وَٱهْجُرْهُمْ هَجْرًا جَمِيلًا ۝ وَذَرْنِى وَٱلْمُكَذِّبِينَ أُو۟لِى ٱلنَّعْمَةِ وَمَهِّلْهُمْ قَلِيلًا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i="1">
                <a:solidFill>
                  <a:srgbClr val="57534E"/>
                </a:solidFill>
              </a:defRPr>
            </a:pPr>
            <a:r>
              <a:t>And bear with patience what they utter, and part from them with a fair leave-taking. Leave Me to deal with the deniers, lords of ease and comfort (in this life); and do thou respite them awhile.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618488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4D3E"/>
                </a:solidFill>
                <a:latin typeface="Georgia"/>
              </a:defRPr>
            </a:pPr>
            <a:r>
              <a:t>Prophetic Conduct: Sabr &amp; Hijr Jamil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92807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1917"/>
                </a:solidFill>
              </a:defRPr>
            </a:pPr>
            <a:r>
              <a:t>• "Sabr" — patient endurance of mockery, slander, and rejection from the disbelievers.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6829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1917"/>
                </a:solidFill>
              </a:defRPr>
            </a:pPr>
            <a:r>
              <a:t>• "Hijran jamilan" — gracious avoidance: do not retaliate, do not seek revenge. Maintain dignity and noble character.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43784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1917"/>
                </a:solidFill>
              </a:defRPr>
            </a:pPr>
            <a:r>
              <a:t>• "Watharnee" — leave the rejectors to Me. The Prophet's task is delivery (balagh); Allah handles reckoning.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1927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1917"/>
                </a:solidFill>
              </a:defRPr>
            </a:pPr>
            <a:r>
              <a:t>• For the da'ie: you will face insults, mockery, and rejection. Your response is patience and dignified distance — never hatred, never retaliation.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77774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7534E"/>
                </a:solidFill>
              </a:defRPr>
            </a:pPr>
            <a:r>
              <a:t>Quran Wiki — Surah Al-Muzzammil (73) | Tarbiyyah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9A857"/>
                </a:solidFill>
                <a:latin typeface="Georgia"/>
              </a:defRPr>
            </a:pPr>
            <a:r>
              <a:t>73:12-14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457200"/>
            <a:ext cx="1097280" cy="27432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502920"/>
            <a:ext cx="8412480" cy="822960"/>
          </a:xfrm>
          <a:prstGeom prst="rect">
            <a:avLst/>
          </a:prstGeom>
          <a:solidFill>
            <a:srgbClr val="ED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502920"/>
            <a:ext cx="36576" cy="822960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41664" y="502920"/>
            <a:ext cx="36576" cy="822960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1B4D3E"/>
                </a:solidFill>
                <a:latin typeface="Times New Roman"/>
              </a:defRPr>
            </a:pPr>
            <a:r>
              <a:t>إِنَّ لَدَيْنَآ أَنكَالًا وَجَحِيمًا ۝ وَطَعَامًا ذَا غُصَّةٍ وَعَذَابًا أَلِيمًا ۝ يَوْمَ تَرْجُفُ ٱلْأَرْضُ وَٱلْجِبَالُ وَكَانَتِ ٱلْجِبَالُ كَثِيبًا مَّهِيلًا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i="1">
                <a:solidFill>
                  <a:srgbClr val="57534E"/>
                </a:solidFill>
              </a:defRPr>
            </a:pPr>
            <a:r>
              <a:t>Lo! with Us are heavy fetters and a raging fire, And food which choketh (the partaker), and a painful doom On the day when the earth and the hills rock, and the hills become a heap of running sand.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755648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4D3E"/>
                </a:solidFill>
                <a:latin typeface="Georgia"/>
              </a:defRPr>
            </a:pPr>
            <a:r>
              <a:t>The Four Punishments of the Rejectors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299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1917"/>
                </a:solidFill>
              </a:defRPr>
            </a:pPr>
            <a:r>
              <a:t>• Ankal (أنكال) — Heavy fetters and chains binding the disbelievers in Hellfire.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0545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1917"/>
                </a:solidFill>
              </a:defRPr>
            </a:pPr>
            <a:r>
              <a:t>• Jahim (جحيم) — A blazing, all-consuming fire of punishment.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80944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1917"/>
                </a:solidFill>
              </a:defRPr>
            </a:pPr>
            <a:r>
              <a:t>• Ta'am dhu ghussah — Food that chokes, stuck in the throat, neither entering nor exiting.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5643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1917"/>
                </a:solidFill>
              </a:defRPr>
            </a:pPr>
            <a:r>
              <a:t>• Adhabun aleem — Painful torment on the Day when earth and mountains convulse, and mountains become like flowing sand.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77774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7534E"/>
                </a:solidFill>
              </a:defRPr>
            </a:pPr>
            <a:r>
              <a:t>Quran Wiki — Surah Al-Muzzammil (73) | Tarbiyyah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9A857"/>
                </a:solidFill>
                <a:latin typeface="Georgia"/>
              </a:defRPr>
            </a:pPr>
            <a:r>
              <a:t>73:15-16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457200"/>
            <a:ext cx="1097280" cy="27432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solidFill>
            <a:srgbClr val="ED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502920"/>
            <a:ext cx="36576" cy="685800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41664" y="502920"/>
            <a:ext cx="36576" cy="685800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1B4D3E"/>
                </a:solidFill>
                <a:latin typeface="Times New Roman"/>
              </a:defRPr>
            </a:pPr>
            <a:r>
              <a:t>إِنَّآ أَرْسَلْنَآ إِلَيْكُمْ رَسُولًا شَـٰهِدًا عَلَيْكُمْ كَمَآ أَرْسَلْنَآ إِلَىٰ فِرْعَوْنَ رَسُولًا ۝ فَعَصَىٰ فِرْعَوْنُ ٱلرَّسُولَ فَأَخَذْنَـٰهُ أَخْذًا وَبِيلًا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i="1">
                <a:solidFill>
                  <a:srgbClr val="57534E"/>
                </a:solidFill>
              </a:defRPr>
            </a:pPr>
            <a:r>
              <a:t>Lo! We have sent unto you a messenger as witness against you, even as We sent unto Pharaoh a messenger. But Pharaoh rebelled against the messenger, whereupon We seized him with no gentle grip.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618488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4D3E"/>
                </a:solidFill>
                <a:latin typeface="Georgia"/>
              </a:defRPr>
            </a:pPr>
            <a:r>
              <a:t>The Parable of Pharaoh — A Stern Warning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92807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1917"/>
                </a:solidFill>
              </a:defRPr>
            </a:pPr>
            <a:r>
              <a:t>• The Prophet Muhammad is a 'shahid' (witness) over his Ummah — his testimony will be presented on Judgment Day.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6829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1917"/>
                </a:solidFill>
              </a:defRPr>
            </a:pPr>
            <a:r>
              <a:t>• Pharaoh was sent Musa (AS) as a messenger; he denied, rebelled, and was seized by Allah with crushing punishment.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43784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1917"/>
                </a:solidFill>
              </a:defRPr>
            </a:pPr>
            <a:r>
              <a:t>• "Akhdhan wabeelan" — a severe, ruinous seizure. The parallel is explicit: reject the messenger, face the consequence.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1927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1917"/>
                </a:solidFill>
              </a:defRPr>
            </a:pPr>
            <a:r>
              <a:t>• For the da'ie: when people reject your call, remember Pharaoh. The message is true; the consequence of rejection is real.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77774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7534E"/>
                </a:solidFill>
              </a:defRPr>
            </a:pPr>
            <a:r>
              <a:t>Quran Wiki — Surah Al-Muzzammil (73) | Tarbiyyah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9A857"/>
                </a:solidFill>
                <a:latin typeface="Georgia"/>
              </a:defRPr>
            </a:pPr>
            <a:r>
              <a:t>73:17-18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457200"/>
            <a:ext cx="1097280" cy="27432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solidFill>
            <a:srgbClr val="ED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502920"/>
            <a:ext cx="36576" cy="685800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41664" y="502920"/>
            <a:ext cx="36576" cy="685800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1B4D3E"/>
                </a:solidFill>
                <a:latin typeface="Times New Roman"/>
              </a:defRPr>
            </a:pPr>
            <a:r>
              <a:t>فَكَيْفَ تَتَّقُونَ إِن كَفَرْتُمْ يَوْمًا يَجْعَلُ ٱلْوِلْدَٰنَ شِيبًا ۝ ٱلسَّمَآءُ مُنفَطِرٌۢ بِهِۦ ۚ كَانَ وَعْدُهُۥ مَفْعُولًا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i="1">
                <a:solidFill>
                  <a:srgbClr val="57534E"/>
                </a:solidFill>
              </a:defRPr>
            </a:pPr>
            <a:r>
              <a:t>Then how, if ye disbelieve, will ye protect yourselves upon the day which will turn children grey, The very heaven being then rent asunder. His promise is to be fulfilled.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618488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4D3E"/>
                </a:solidFill>
                <a:latin typeface="Georgia"/>
              </a:defRPr>
            </a:pPr>
            <a:r>
              <a:t>Tafsir Muyassar — The Unimaginable Terror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92807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1917"/>
                </a:solidFill>
              </a:defRPr>
            </a:pPr>
            <a:r>
              <a:t>• A Day so terrifying that children will turn white-haired from sheer horror and dread.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6829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1917"/>
                </a:solidFill>
              </a:defRPr>
            </a:pPr>
            <a:r>
              <a:t>• The sky itself will be rent asunder — the cosmic order will collapse before the power of Allah.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43784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1917"/>
                </a:solidFill>
              </a:defRPr>
            </a:pPr>
            <a:r>
              <a:t>• "Kana wa'duhu maf'oolan" — His promise is certainly fulfilled. The resurrection is not conjecture; it is guaranteed reality.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1927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1917"/>
                </a:solidFill>
              </a:defRPr>
            </a:pPr>
            <a:r>
              <a:t>• The rhetorical question: if you deny Allah now, what defense will you have on that Day?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77774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7534E"/>
                </a:solidFill>
              </a:defRPr>
            </a:pPr>
            <a:r>
              <a:t>Quran Wiki — Surah Al-Muzzammil (73) | Tarbiyyah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9A857"/>
                </a:solidFill>
                <a:latin typeface="Georgia"/>
              </a:defRPr>
            </a:pPr>
            <a:r>
              <a:t>73:19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457200"/>
            <a:ext cx="1097280" cy="27432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solidFill>
            <a:srgbClr val="ED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502920"/>
            <a:ext cx="36576" cy="685800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41664" y="502920"/>
            <a:ext cx="36576" cy="685800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1B4D3E"/>
                </a:solidFill>
                <a:latin typeface="Times New Roman"/>
              </a:defRPr>
            </a:pPr>
            <a:r>
              <a:t>إِنَّ هَـٰذِهِۦ تَذْكِرَةٌ ۖ فَمَن شَآءَ ٱتَّخَذَ إِلَىٰ رَبِّهِۦ سَبِيلًا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i="1">
                <a:solidFill>
                  <a:srgbClr val="57534E"/>
                </a:solidFill>
              </a:defRPr>
            </a:pPr>
            <a:r>
              <a:t>Lo! This is a Reminder. Let him who will, then, choose a way unto his Lord.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618488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4D3E"/>
                </a:solidFill>
                <a:latin typeface="Georgia"/>
              </a:defRPr>
            </a:pPr>
            <a:r>
              <a:t>Tafsir Ibn Kathir — Admonition &amp; Divine Will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92807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1917"/>
                </a:solidFill>
              </a:defRPr>
            </a:pPr>
            <a:r>
              <a:t>• "Hadhihi tathkirah" — This surah is an admonition, a reminder for those of sound understanding.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6829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1917"/>
                </a:solidFill>
              </a:defRPr>
            </a:pPr>
            <a:r>
              <a:t>• "Faman shaa attakhadha ila rabbihi sabeelan" — Whoever wills may take a path to his Lord.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43784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1917"/>
                </a:solidFill>
              </a:defRPr>
            </a:pPr>
            <a:r>
              <a:t>• The will is ultimately subject to Allah's will: "But you cannot will, unless Allah wills" (76:30).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1927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1917"/>
                </a:solidFill>
              </a:defRPr>
            </a:pPr>
            <a:r>
              <a:t>• This verse balances human responsibility with divine sovereignty — a cornerstone of Ahl al-Sunnah theology.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77774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7534E"/>
                </a:solidFill>
              </a:defRPr>
            </a:pPr>
            <a:r>
              <a:t>Quran Wiki — Surah Al-Muzzammil (73) | Tarbiyyah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4D3E"/>
                </a:solidFill>
                <a:latin typeface="Georgia"/>
              </a:defRPr>
            </a:pPr>
            <a:r>
              <a:t>Major Divine Orders (Verses 1-19)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85800"/>
            <a:ext cx="1280160" cy="36576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7534E"/>
                </a:solidFill>
              </a:defRPr>
            </a:pPr>
            <a:r>
              <a:t>The commands every da'ie must internalize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320040" cy="256032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14400"/>
            <a:ext cx="320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1-4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14400"/>
            <a:ext cx="7955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1C1917"/>
                </a:solidFill>
              </a:defRPr>
            </a:pPr>
            <a:r>
              <a:t>Qiyam al-Lail — Stand in night prayer (Tahajjud) for half the night or near it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25296"/>
            <a:ext cx="320040" cy="256032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25296"/>
            <a:ext cx="320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225296"/>
            <a:ext cx="7955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1C1917"/>
                </a:solidFill>
              </a:defRPr>
            </a:pPr>
            <a:r>
              <a:t>Tartil — Recite the Quran slowly, distinctly, with contemplation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536192"/>
            <a:ext cx="320040" cy="256032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536192"/>
            <a:ext cx="320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536192"/>
            <a:ext cx="7955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1C1917"/>
                </a:solidFill>
              </a:defRPr>
            </a:pPr>
            <a:r>
              <a:t>Dhikr &amp; Tabattul — Remember Allah's name with complete, exclusive devotion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847088"/>
            <a:ext cx="320040" cy="256032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1847088"/>
            <a:ext cx="320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1847088"/>
            <a:ext cx="7955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1C1917"/>
                </a:solidFill>
              </a:defRPr>
            </a:pPr>
            <a:r>
              <a:t>Tawhid &amp; Tawakkul — Affirm Allah as sole deity; take Him as Wakil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57984"/>
            <a:ext cx="320040" cy="256032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157984"/>
            <a:ext cx="320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157984"/>
            <a:ext cx="7955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1C1917"/>
                </a:solidFill>
              </a:defRPr>
            </a:pPr>
            <a:r>
              <a:t>Sabr — Exercise patient endurance against mockery and rejection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468879"/>
            <a:ext cx="320040" cy="256032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468879"/>
            <a:ext cx="320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2468879"/>
            <a:ext cx="7955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1C1917"/>
                </a:solidFill>
              </a:defRPr>
            </a:pPr>
            <a:r>
              <a:t>Hijr Jamil — Avoid opponents with gracious, noble conduct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779775"/>
            <a:ext cx="320040" cy="256032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2779775"/>
            <a:ext cx="320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2779775"/>
            <a:ext cx="7955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1C1917"/>
                </a:solidFill>
              </a:defRPr>
            </a:pPr>
            <a:r>
              <a:t>Tafweedh — Leave the rejectors to Allah; focus on delivery (balagh)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090671"/>
            <a:ext cx="320040" cy="256032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090671"/>
            <a:ext cx="320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090671"/>
            <a:ext cx="7955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1C1917"/>
                </a:solidFill>
              </a:defRPr>
            </a:pPr>
            <a:r>
              <a:t>Ikhtiyar — Choose the path to Allah; exercise free will within divine decree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77774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7534E"/>
                </a:solidFill>
              </a:defRPr>
            </a:pPr>
            <a:r>
              <a:t>Quran Wiki — Surah Al-Muzzammil (73) | Tarbiyyah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4D3E"/>
                </a:solidFill>
                <a:latin typeface="Georgia"/>
              </a:defRPr>
            </a:pPr>
            <a:r>
              <a:t>Major Lessons for the Da'ie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85800"/>
            <a:ext cx="1280160" cy="36576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7534E"/>
                </a:solidFill>
              </a:defRPr>
            </a:pPr>
            <a:r>
              <a:t>Practical takeaways from Surah Al-Muzzammil</a:t>
            </a:r>
          </a:p>
        </p:txBody>
      </p:sp>
      <p:sp>
        <p:nvSpPr>
          <p:cNvPr id="6" name="Oval 5"/>
          <p:cNvSpPr/>
          <p:nvPr/>
        </p:nvSpPr>
        <p:spPr>
          <a:xfrm>
            <a:off x="411480" y="950976"/>
            <a:ext cx="164592" cy="164592"/>
          </a:xfrm>
          <a:prstGeom prst="ellipse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950976"/>
            <a:ext cx="16459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144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C1917"/>
                </a:solidFill>
              </a:defRPr>
            </a:pPr>
            <a:r>
              <a:t>Spiritual preparation precedes prophetic duty — night prayer is the foundation of revelation-bearing.</a:t>
            </a:r>
          </a:p>
        </p:txBody>
      </p:sp>
      <p:sp>
        <p:nvSpPr>
          <p:cNvPr id="9" name="Oval 8"/>
          <p:cNvSpPr/>
          <p:nvPr/>
        </p:nvSpPr>
        <p:spPr>
          <a:xfrm>
            <a:off x="411480" y="1426464"/>
            <a:ext cx="164592" cy="164592"/>
          </a:xfrm>
          <a:prstGeom prst="ellipse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426464"/>
            <a:ext cx="16459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389888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C1917"/>
                </a:solidFill>
              </a:defRPr>
            </a:pPr>
            <a:r>
              <a:t>The Quran demands weighty commitment; it is not light reading but life-transforming legislation.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" y="1901952"/>
            <a:ext cx="164592" cy="164592"/>
          </a:xfrm>
          <a:prstGeom prst="ellipse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901952"/>
            <a:ext cx="16459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865376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C1917"/>
                </a:solidFill>
              </a:defRPr>
            </a:pPr>
            <a:r>
              <a:t>Night prayer creates the optimal conditions for deep reflection and sincere supplication.</a:t>
            </a:r>
          </a:p>
        </p:txBody>
      </p:sp>
      <p:sp>
        <p:nvSpPr>
          <p:cNvPr id="15" name="Oval 14"/>
          <p:cNvSpPr/>
          <p:nvPr/>
        </p:nvSpPr>
        <p:spPr>
          <a:xfrm>
            <a:off x="411480" y="2377440"/>
            <a:ext cx="164592" cy="164592"/>
          </a:xfrm>
          <a:prstGeom prst="ellipse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377440"/>
            <a:ext cx="16459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340864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C1917"/>
                </a:solidFill>
              </a:defRPr>
            </a:pPr>
            <a:r>
              <a:t>The prophetic model requires balance: active daytime engagement + deep nighttime devotion.</a:t>
            </a:r>
          </a:p>
        </p:txBody>
      </p:sp>
      <p:sp>
        <p:nvSpPr>
          <p:cNvPr id="18" name="Oval 17"/>
          <p:cNvSpPr/>
          <p:nvPr/>
        </p:nvSpPr>
        <p:spPr>
          <a:xfrm>
            <a:off x="411480" y="2852928"/>
            <a:ext cx="164592" cy="164592"/>
          </a:xfrm>
          <a:prstGeom prst="ellipse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2852928"/>
            <a:ext cx="16459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81635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C1917"/>
                </a:solidFill>
              </a:defRPr>
            </a:pPr>
            <a:r>
              <a:t>Patience and gracious avoidance are superior to retaliation when facing opposition.</a:t>
            </a:r>
          </a:p>
        </p:txBody>
      </p:sp>
      <p:sp>
        <p:nvSpPr>
          <p:cNvPr id="21" name="Oval 20"/>
          <p:cNvSpPr/>
          <p:nvPr/>
        </p:nvSpPr>
        <p:spPr>
          <a:xfrm>
            <a:off x="411480" y="3328416"/>
            <a:ext cx="164592" cy="164592"/>
          </a:xfrm>
          <a:prstGeom prst="ellipse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328416"/>
            <a:ext cx="16459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2918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C1917"/>
                </a:solidFill>
              </a:defRPr>
            </a:pPr>
            <a:r>
              <a:t>Divine justice is certain; worldly respite for rejectors is temporary and deceptive.</a:t>
            </a:r>
          </a:p>
        </p:txBody>
      </p:sp>
      <p:sp>
        <p:nvSpPr>
          <p:cNvPr id="24" name="Oval 23"/>
          <p:cNvSpPr/>
          <p:nvPr/>
        </p:nvSpPr>
        <p:spPr>
          <a:xfrm>
            <a:off x="411480" y="3803904"/>
            <a:ext cx="164592" cy="164592"/>
          </a:xfrm>
          <a:prstGeom prst="ellipse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3803904"/>
            <a:ext cx="16459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767328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C1917"/>
                </a:solidFill>
              </a:defRPr>
            </a:pPr>
            <a:r>
              <a:t>The fate of Pharaoh serves as a universal warning to all who reject Allah's messengers.</a:t>
            </a:r>
          </a:p>
        </p:txBody>
      </p:sp>
      <p:sp>
        <p:nvSpPr>
          <p:cNvPr id="27" name="Oval 26"/>
          <p:cNvSpPr/>
          <p:nvPr/>
        </p:nvSpPr>
        <p:spPr>
          <a:xfrm>
            <a:off x="411480" y="4279392"/>
            <a:ext cx="164592" cy="164592"/>
          </a:xfrm>
          <a:prstGeom prst="ellipse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279392"/>
            <a:ext cx="16459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242816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C1917"/>
                </a:solidFill>
              </a:defRPr>
            </a:pPr>
            <a:r>
              <a:t>Human will operates within divine decree — we choose, but Allah ultimately enables and guides.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77774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7534E"/>
                </a:solidFill>
              </a:defRPr>
            </a:pPr>
            <a:r>
              <a:t>Quran Wiki — Surah Al-Muzzammil (73) | Tarbiyyah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D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Georgia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C9A857"/>
                </a:solidFill>
              </a:defRPr>
            </a:pPr>
            <a:r>
              <a:t>رَبَّنَا تَقَبَّلْ مِنَّا إِنَّكَ أَنْتَ السَّمِيعُ الْعَلِيمُ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FAF6F0"/>
                </a:solidFill>
              </a:defRPr>
            </a:pPr>
            <a:r>
              <a:t>Our Lord, accept from us; indeed, You are the All-Hearing, the All-Knowing.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AF6F0"/>
                </a:solidFill>
              </a:defRPr>
            </a:pPr>
            <a:r>
              <a:t>Surah Al-Muzzammil teaches us that spiritual elevation requires night devotion, patient conduct, unwavering tawhid, and trust in divine justice. The path to Allah is open to whoever wills — may we be among those who choose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B9080"/>
                </a:solidFill>
              </a:defRPr>
            </a:pPr>
            <a:r>
              <a:t>Sources: Quran Wiki (verified against Al Quran Cloud API &amp; Quran.com API) | Tafsir Ibn Kathir (Abridged) | Tafsir Muyassar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Surah Al-Muzzammil (73) — Tafseer for the Da'ie</dc:title>
  <dc:subject>Islamic Scholarly Presentation</dc:subject>
  <dc:creator>Tarbiyyah — Quran Wiki Research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